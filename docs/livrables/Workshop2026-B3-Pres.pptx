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Présenter le contexte en 30 secondes.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Jouer le scénario du dossier technique, section 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03120"/>
            <a:ext cx="10515600" cy="2743200"/>
          </a:xfrm>
          <a:prstGeom prst="rect">
            <a:avLst/>
          </a:prstGeom>
          <a:noFill/>
        </p:spPr>
        <p:txBody>
          <a:bodyPr wrap="square">
            <a:spAutoFit/>
          </a:bodyPr>
          <a:lstStyle/>
          <a:p>
            <a:r>
              <a:rPr sz="7200" b="1">
                <a:solidFill>
                  <a:srgbClr val="FFFFFF"/>
                </a:solidFill>
              </a:rPr>
              <a:t>Huginn</a:t>
            </a:r>
          </a:p>
          <a:p>
            <a:pPr>
              <a:defRPr sz="2800">
                <a:solidFill>
                  <a:srgbClr val="DBE9F7"/>
                </a:solidFill>
              </a:defRPr>
            </a:pPr>
            <a:r>
              <a:t>Assistant de santé psychologique et physique des colons</a:t>
            </a:r>
          </a:p>
          <a:p>
            <a:pPr>
              <a:defRPr sz="1800">
                <a:solidFill>
                  <a:srgbClr val="DBE9F7"/>
                </a:solidFill>
              </a:defRPr>
            </a:pPr>
            <a:r>
              <a:t>Workshop 2026 — Horizon 2080 — HumanTech &amp; HealthTech spatiales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3200" b="1">
                <a:solidFill>
                  <a:srgbClr val="FFFFFF"/>
                </a:solidFill>
              </a:rPr>
              <a:t>Le problème</a:t>
            </a:r>
          </a:p>
        </p:txBody>
      </p:sp>
      <p:sp>
        <p:nvSpPr>
          <p:cNvPr id="3" name="TextBox 2"/>
          <p:cNvSpPr txBox="1"/>
          <p:nvPr/>
        </p:nvSpPr>
        <p:spPr>
          <a:xfrm>
            <a:off x="640080" y="1463040"/>
            <a:ext cx="10972800" cy="4572000"/>
          </a:xfrm>
          <a:prstGeom prst="rect">
            <a:avLst/>
          </a:prstGeom>
          <a:noFill/>
        </p:spPr>
        <p:txBody>
          <a:bodyPr wrap="square">
            <a:spAutoFit/>
          </a:bodyPr>
          <a:lstStyle/>
          <a:p>
            <a:pPr>
              <a:spcAft>
                <a:spcPts val="1000"/>
              </a:spcAft>
              <a:defRPr sz="2200"/>
            </a:pPr>
            <a:r>
              <a:t>• Équipage isolé pendant des mois, sans contact avec la Terre</a:t>
            </a:r>
          </a:p>
          <a:p>
            <a:pPr>
              <a:spcAft>
                <a:spcPts val="1000"/>
              </a:spcAft>
              <a:defRPr sz="2200"/>
            </a:pPr>
            <a:r>
              <a:t>• Ni médecin ni psychologue à bord : personne vers qui se tourner</a:t>
            </a:r>
          </a:p>
          <a:p>
            <a:pPr>
              <a:spcAft>
                <a:spcPts val="1000"/>
              </a:spcAft>
              <a:defRPr sz="2200"/>
            </a:pPr>
            <a:r>
              <a:t>• Fatigue, stress, sommeil, solitude : des risques pour toute la mission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3200" b="1">
                <a:solidFill>
                  <a:srgbClr val="FFFFFF"/>
                </a:solidFill>
              </a:rPr>
              <a:t>La solution : Huginn</a:t>
            </a:r>
          </a:p>
        </p:txBody>
      </p:sp>
      <p:sp>
        <p:nvSpPr>
          <p:cNvPr id="3" name="TextBox 2"/>
          <p:cNvSpPr txBox="1"/>
          <p:nvPr/>
        </p:nvSpPr>
        <p:spPr>
          <a:xfrm>
            <a:off x="640080" y="1463040"/>
            <a:ext cx="10972800" cy="4572000"/>
          </a:xfrm>
          <a:prstGeom prst="rect">
            <a:avLst/>
          </a:prstGeom>
          <a:noFill/>
        </p:spPr>
        <p:txBody>
          <a:bodyPr wrap="square">
            <a:spAutoFit/>
          </a:bodyPr>
          <a:lstStyle/>
          <a:p>
            <a:pPr>
              <a:spcAft>
                <a:spcPts val="1000"/>
              </a:spcAft>
              <a:defRPr sz="2200"/>
            </a:pPr>
            <a:r>
              <a:t>• Le colon importe ses constantes depuis sa montre</a:t>
            </a:r>
          </a:p>
          <a:p>
            <a:pPr>
              <a:spcAft>
                <a:spcPts val="1000"/>
              </a:spcAft>
              <a:defRPr sz="2200"/>
            </a:pPr>
            <a:r>
              <a:t>• Une IA locale décide de la conduite à tenir et discute avec le colon</a:t>
            </a:r>
          </a:p>
          <a:p>
            <a:pPr>
              <a:spcAft>
                <a:spcPts val="1000"/>
              </a:spcAft>
              <a:defRPr sz="2200"/>
            </a:pPr>
            <a:r>
              <a:t>• Guidage pas à pas, jusqu'aux premiers secours et à la prescription</a:t>
            </a:r>
          </a:p>
          <a:p>
            <a:pPr>
              <a:spcAft>
                <a:spcPts val="1000"/>
              </a:spcAft>
              <a:defRPr sz="2200"/>
            </a:pPr>
            <a:r>
              <a:t>• Alerte automatique de l'équipage en cas de crise</a:t>
            </a:r>
          </a:p>
          <a:p>
            <a:pPr>
              <a:spcAft>
                <a:spcPts val="1000"/>
              </a:spcAft>
              <a:defRPr sz="2200"/>
            </a:pPr>
            <a:r>
              <a:t>• 100 % hors ligne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3200" b="1">
                <a:solidFill>
                  <a:srgbClr val="FFFFFF"/>
                </a:solidFill>
              </a:rPr>
              <a:t>Architecture</a:t>
            </a:r>
          </a:p>
        </p:txBody>
      </p:sp>
      <p:sp>
        <p:nvSpPr>
          <p:cNvPr id="3" name="TextBox 2"/>
          <p:cNvSpPr txBox="1"/>
          <p:nvPr/>
        </p:nvSpPr>
        <p:spPr>
          <a:xfrm>
            <a:off x="640080" y="1463040"/>
            <a:ext cx="5669280" cy="4572000"/>
          </a:xfrm>
          <a:prstGeom prst="rect">
            <a:avLst/>
          </a:prstGeom>
          <a:noFill/>
        </p:spPr>
        <p:txBody>
          <a:bodyPr wrap="square">
            <a:spAutoFit/>
          </a:bodyPr>
          <a:lstStyle/>
          <a:p>
            <a:pPr>
              <a:spcAft>
                <a:spcPts val="1000"/>
              </a:spcAft>
              <a:defRPr sz="2200"/>
            </a:pPr>
            <a:r>
              <a:t>• React : 3 pages responsive</a:t>
            </a:r>
          </a:p>
          <a:p>
            <a:pPr>
              <a:spcAft>
                <a:spcPts val="1000"/>
              </a:spcAft>
              <a:defRPr sz="2200"/>
            </a:pPr>
            <a:r>
              <a:t>• FastAPI + SQLite : API, comptes, stock, alertes</a:t>
            </a:r>
          </a:p>
          <a:p>
            <a:pPr>
              <a:spcAft>
                <a:spcPts val="1000"/>
              </a:spcAft>
              <a:defRPr sz="2200"/>
            </a:pPr>
            <a:r>
              <a:t>• Ollama : modèle de langage local</a:t>
            </a:r>
          </a:p>
          <a:p>
            <a:pPr>
              <a:spcAft>
                <a:spcPts val="1000"/>
              </a:spcAft>
              <a:defRPr sz="2200"/>
            </a:pPr>
            <a:r>
              <a:t>• Protocoles médicaux figés dans des fichiers JSON</a:t>
            </a:r>
          </a:p>
          <a:p>
            <a:pPr>
              <a:spcAft>
                <a:spcPts val="1000"/>
              </a:spcAft>
              <a:defRPr sz="2200"/>
            </a:pPr>
            <a:r>
              <a:t>• Un seul `docker compose up`</a:t>
            </a:r>
          </a:p>
        </p:txBody>
      </p:sp>
      <p:pic>
        <p:nvPicPr>
          <p:cNvPr id="4" name="Picture 3" descr="architecture.png"/>
          <p:cNvPicPr>
            <a:picLocks noChangeAspect="1"/>
          </p:cNvPicPr>
          <p:nvPr/>
        </p:nvPicPr>
        <p:blipFill>
          <a:blip r:embed="rId2"/>
          <a:stretch>
            <a:fillRect/>
          </a:stretch>
        </p:blipFill>
        <p:spPr>
          <a:xfrm>
            <a:off x="6583680" y="1554480"/>
            <a:ext cx="5303520" cy="270709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3200" b="1">
                <a:solidFill>
                  <a:srgbClr val="FFFFFF"/>
                </a:solidFill>
              </a:rPr>
              <a:t>Démo (1 minute)</a:t>
            </a:r>
          </a:p>
        </p:txBody>
      </p:sp>
      <p:sp>
        <p:nvSpPr>
          <p:cNvPr id="3" name="TextBox 2"/>
          <p:cNvSpPr txBox="1"/>
          <p:nvPr/>
        </p:nvSpPr>
        <p:spPr>
          <a:xfrm>
            <a:off x="640080" y="1463040"/>
            <a:ext cx="10972800" cy="4572000"/>
          </a:xfrm>
          <a:prstGeom prst="rect">
            <a:avLst/>
          </a:prstGeom>
          <a:noFill/>
        </p:spPr>
        <p:txBody>
          <a:bodyPr wrap="square">
            <a:spAutoFit/>
          </a:bodyPr>
          <a:lstStyle/>
          <a:p>
            <a:pPr>
              <a:spcAft>
                <a:spcPts val="1000"/>
              </a:spcAft>
              <a:defRPr sz="2200"/>
            </a:pPr>
            <a:r>
              <a:t>• Erik : aucune donnée, puis constantes normales : vert</a:t>
            </a:r>
          </a:p>
          <a:p>
            <a:pPr>
              <a:spcAft>
                <a:spcPts val="1000"/>
              </a:spcAft>
              <a:defRPr sz="2200"/>
            </a:pPr>
            <a:r>
              <a:t>• Fréquence en hausse, nuit courte : orange, conseils personnalisés</a:t>
            </a:r>
          </a:p>
          <a:p>
            <a:pPr>
              <a:spcAft>
                <a:spcPts val="1000"/>
              </a:spcAft>
              <a:defRPr sz="2200"/>
            </a:pPr>
            <a:r>
              <a:t>• SpO2 à 88 % : rouge, protocole guidé, médicament et stock restant</a:t>
            </a:r>
          </a:p>
          <a:p>
            <a:pPr>
              <a:spcAft>
                <a:spcPts val="1000"/>
              </a:spcAft>
              <a:defRPr sz="2200"/>
            </a:pPr>
            <a:r>
              <a:t>• Nyota voit l'alerte, « Que faire ? », protocole en lecture seule</a:t>
            </a:r>
          </a:p>
          <a:p>
            <a:pPr>
              <a:spcAft>
                <a:spcPts val="1000"/>
              </a:spcAft>
              <a:defRPr sz="2200"/>
            </a:pPr>
            <a:r>
              <a:t>• Protocole terminé : l'alerte se résout toute seule</a:t>
            </a:r>
          </a:p>
          <a:p>
            <a:pPr>
              <a:spcAft>
                <a:spcPts val="1000"/>
              </a:spcAft>
              <a:defRPr sz="2200"/>
            </a:pPr>
            <a:r>
              <a:t>• On coupe l'IA : le mode dégradé prend le relais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3200" b="1">
                <a:solidFill>
                  <a:srgbClr val="FFFFFF"/>
                </a:solidFill>
              </a:rPr>
              <a:t>Garde-fous de l'IA</a:t>
            </a:r>
          </a:p>
        </p:txBody>
      </p:sp>
      <p:sp>
        <p:nvSpPr>
          <p:cNvPr id="3" name="TextBox 2"/>
          <p:cNvSpPr txBox="1"/>
          <p:nvPr/>
        </p:nvSpPr>
        <p:spPr>
          <a:xfrm>
            <a:off x="640080" y="1463040"/>
            <a:ext cx="10972800" cy="4572000"/>
          </a:xfrm>
          <a:prstGeom prst="rect">
            <a:avLst/>
          </a:prstGeom>
          <a:noFill/>
        </p:spPr>
        <p:txBody>
          <a:bodyPr wrap="square">
            <a:spAutoFit/>
          </a:bodyPr>
          <a:lstStyle/>
          <a:p>
            <a:pPr>
              <a:spcAft>
                <a:spcPts val="1000"/>
              </a:spcAft>
              <a:defRPr sz="2200"/>
            </a:pPr>
            <a:r>
              <a:t>• L'IA ne rédige jamais d'instruction médicale ni de posologie</a:t>
            </a:r>
          </a:p>
          <a:p>
            <a:pPr>
              <a:spcAft>
                <a:spcPts val="1000"/>
              </a:spcAft>
              <a:defRPr sz="2200"/>
            </a:pPr>
            <a:r>
              <a:t>• Elle choisit seulement quel protocole figé déclencher, selon des seuils</a:t>
            </a:r>
          </a:p>
          <a:p>
            <a:pPr>
              <a:spcAft>
                <a:spcPts val="1000"/>
              </a:spcAft>
              <a:defRPr sz="2200"/>
            </a:pPr>
            <a:r>
              <a:t>• Toute réponse contenant une dose ou un médicament est rejetée</a:t>
            </a:r>
          </a:p>
          <a:p>
            <a:pPr>
              <a:spcAft>
                <a:spcPts val="1000"/>
              </a:spcAft>
              <a:defRPr sz="2200"/>
            </a:pPr>
            <a:r>
              <a:t>• Chaque conseil cite au moins une constante du colon</a:t>
            </a:r>
          </a:p>
          <a:p>
            <a:pPr>
              <a:spcAft>
                <a:spcPts val="1000"/>
              </a:spcAft>
              <a:defRPr sz="2200"/>
            </a:pPr>
            <a:r>
              <a:t>• Ton bienveillant, aucun diagnostic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3200" b="1">
                <a:solidFill>
                  <a:srgbClr val="FFFFFF"/>
                </a:solidFill>
              </a:rPr>
              <a:t>Résilience et sécurité</a:t>
            </a:r>
          </a:p>
        </p:txBody>
      </p:sp>
      <p:sp>
        <p:nvSpPr>
          <p:cNvPr id="3" name="TextBox 2"/>
          <p:cNvSpPr txBox="1"/>
          <p:nvPr/>
        </p:nvSpPr>
        <p:spPr>
          <a:xfrm>
            <a:off x="640080" y="1463040"/>
            <a:ext cx="10972800" cy="4572000"/>
          </a:xfrm>
          <a:prstGeom prst="rect">
            <a:avLst/>
          </a:prstGeom>
          <a:noFill/>
        </p:spPr>
        <p:txBody>
          <a:bodyPr wrap="square">
            <a:spAutoFit/>
          </a:bodyPr>
          <a:lstStyle/>
          <a:p>
            <a:pPr>
              <a:spcAft>
                <a:spcPts val="1000"/>
              </a:spcAft>
              <a:defRPr sz="2200"/>
            </a:pPr>
            <a:r>
              <a:t>• Mode dégradé : moteur de règles si le modèle ne répond pas</a:t>
            </a:r>
          </a:p>
          <a:p>
            <a:pPr>
              <a:spcAft>
                <a:spcPts val="1000"/>
              </a:spcAft>
              <a:defRPr sz="2200"/>
            </a:pPr>
            <a:r>
              <a:t>• Chacun ne voit que ses données ; l'équipage voit l'alerte, pas les constantes</a:t>
            </a:r>
          </a:p>
          <a:p>
            <a:pPr>
              <a:spcAft>
                <a:spcPts val="1000"/>
              </a:spcAft>
              <a:defRPr sz="2200"/>
            </a:pPr>
            <a:r>
              <a:t>• Mots de passe hachés, sessions de 12 h, blocage anti force brute</a:t>
            </a:r>
          </a:p>
          <a:p>
            <a:pPr>
              <a:spcAft>
                <a:spcPts val="1000"/>
              </a:spcAft>
              <a:defRPr sz="2200"/>
            </a:pPr>
            <a:r>
              <a:t>• Stock partagé, décrément atomique, médicament absent : alternative prédéfinie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3200" b="1">
                <a:solidFill>
                  <a:srgbClr val="FFFFFF"/>
                </a:solidFill>
              </a:rPr>
              <a:t>Qualité</a:t>
            </a:r>
          </a:p>
        </p:txBody>
      </p:sp>
      <p:sp>
        <p:nvSpPr>
          <p:cNvPr id="3" name="TextBox 2"/>
          <p:cNvSpPr txBox="1"/>
          <p:nvPr/>
        </p:nvSpPr>
        <p:spPr>
          <a:xfrm>
            <a:off x="640080" y="1463040"/>
            <a:ext cx="10972800" cy="4572000"/>
          </a:xfrm>
          <a:prstGeom prst="rect">
            <a:avLst/>
          </a:prstGeom>
          <a:noFill/>
        </p:spPr>
        <p:txBody>
          <a:bodyPr wrap="square">
            <a:spAutoFit/>
          </a:bodyPr>
          <a:lstStyle/>
          <a:p>
            <a:pPr>
              <a:spcAft>
                <a:spcPts val="1000"/>
              </a:spcAft>
              <a:defRPr sz="2200"/>
            </a:pPr>
            <a:r>
              <a:t>• 8 tests automatisés du scénario complet (mode dégradé)</a:t>
            </a:r>
          </a:p>
          <a:p>
            <a:pPr>
              <a:spcAft>
                <a:spcPts val="1000"/>
              </a:spcAft>
              <a:defRPr sz="2200"/>
            </a:pPr>
            <a:r>
              <a:t>• Parcours joué dans un navigateur, format mobile</a:t>
            </a:r>
          </a:p>
          <a:p>
            <a:pPr>
              <a:spcAft>
                <a:spcPts val="1000"/>
              </a:spcAft>
              <a:defRPr sz="2200"/>
            </a:pPr>
            <a:r>
              <a:t>• Validation stricte des constantes : valeur invalide = import refusé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3200" b="1">
                <a:solidFill>
                  <a:srgbClr val="FFFFFF"/>
                </a:solidFill>
              </a:rPr>
              <a:t>Et après ? (V1)</a:t>
            </a:r>
          </a:p>
        </p:txBody>
      </p:sp>
      <p:sp>
        <p:nvSpPr>
          <p:cNvPr id="3" name="TextBox 2"/>
          <p:cNvSpPr txBox="1"/>
          <p:nvPr/>
        </p:nvSpPr>
        <p:spPr>
          <a:xfrm>
            <a:off x="640080" y="1463040"/>
            <a:ext cx="10972800" cy="4572000"/>
          </a:xfrm>
          <a:prstGeom prst="rect">
            <a:avLst/>
          </a:prstGeom>
          <a:noFill/>
        </p:spPr>
        <p:txBody>
          <a:bodyPr wrap="square">
            <a:spAutoFit/>
          </a:bodyPr>
          <a:lstStyle/>
          <a:p>
            <a:pPr>
              <a:spcAft>
                <a:spcPts val="1000"/>
              </a:spcAft>
              <a:defRPr sz="2200"/>
            </a:pPr>
            <a:r>
              <a:t>• Interactions médicamenteuses, allergies, historique de traitement</a:t>
            </a:r>
          </a:p>
          <a:p>
            <a:pPr>
              <a:spcAft>
                <a:spcPts val="1000"/>
              </a:spcAft>
              <a:defRPr sz="2200"/>
            </a:pPr>
            <a:r>
              <a:t>• Réapprovisionnement, montre ESP32, notifications temps réel</a:t>
            </a:r>
          </a:p>
          <a:p>
            <a:pPr>
              <a:spcAft>
                <a:spcPts val="1000"/>
              </a:spcAft>
              <a:defRPr sz="2200"/>
            </a:pPr>
            <a:r>
              <a:t>• Choix du modèle (3B ou 7B) validé sur le matériel du campus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3200" b="1">
                <a:solidFill>
                  <a:srgbClr val="FFFFFF"/>
                </a:solidFill>
              </a:rPr>
              <a:t>Merci — questions ?</a:t>
            </a:r>
          </a:p>
        </p:txBody>
      </p:sp>
      <p:sp>
        <p:nvSpPr>
          <p:cNvPr id="3" name="TextBox 2"/>
          <p:cNvSpPr txBox="1"/>
          <p:nvPr/>
        </p:nvSpPr>
        <p:spPr>
          <a:xfrm>
            <a:off x="640080" y="1463040"/>
            <a:ext cx="10972800" cy="4572000"/>
          </a:xfrm>
          <a:prstGeom prst="rect">
            <a:avLst/>
          </a:prstGeom>
          <a:noFill/>
        </p:spPr>
        <p:txBody>
          <a:bodyPr wrap="square">
            <a:spAutoFit/>
          </a:bodyPr>
          <a:lstStyle/>
          <a:p>
            <a:pPr>
              <a:spcAft>
                <a:spcPts val="1000"/>
              </a:spcAft>
              <a:defRPr sz="2200"/>
            </a:pPr>
            <a:r>
              <a:t>• Huginn est un prototype fictif pour un exercice de workshop. Le contenu médical (protocoles, prescriptions, inventaire) est illustratif, écrit pour la démonstration, et ne constitue ni un dispositif médical ni un avis médical réel.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